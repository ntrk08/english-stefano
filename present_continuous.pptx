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3524-E192-B6B5-606A-E6E7C5D0A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0B7B1-6361-7C9F-CBD0-5CBCF25E2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367E4-B631-CAD4-822B-AB100506D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A026-564D-45D4-39FE-38CD9C49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88F8C-2764-5D7A-2CD9-8393966D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6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CF96-744F-B934-A3F2-C8BC2A3D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9D35-B28D-1049-7927-903F79BA5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14F0-B509-6C41-FE0C-BE1484B7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51168-A033-BE3F-CAF4-862C0A10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2BC86-A71E-FA9B-266E-34531B87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9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772E-02E8-04B3-6132-C8C6E1EF1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5AD49-8FEB-7230-C03D-B5D5772A5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CCC99-73A5-83A9-5DB8-C402CFF4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8449E-790F-2F5B-6470-E759E11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D53B3-5369-9780-4160-3FCBBD0D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3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7D00-95DF-2E6F-5DE5-CFA79F77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A608-3380-B4BC-A12B-30C5FE3D7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79F30-552F-03A6-9FF8-B6D5DA46D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18A6C-40F6-E096-C78E-E650CD047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FCB64-86BB-68D1-F741-005499546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59A-5825-C1C5-BC0F-E750D239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0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EFAF-F093-6F74-C4BB-7EF72867F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6DFAC-9574-90D7-6F2C-53BD662B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1D627-6120-799B-ECC8-4AA7311CD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DD726-97FF-F1F9-B4CD-7C293C288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AB9E2-230A-06BD-26B8-768CC6C92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89CC86-3422-7EAB-3628-513FC25A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BFDDA3-8B29-DEA2-63FD-F9B6EDE44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BF75E-0E52-67F2-50F6-AF70BC48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7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952D-486E-7C38-5A75-DA99A015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03205-1A39-6FCB-EC26-FE8EE315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C63B0-A794-0403-284C-716EEEF3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7D438-A75D-0BD8-71DE-293BA2CB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0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C01DD5-B9FC-6696-F49E-21064A0A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2324A-9169-9371-5FD0-709DDE5F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F8CB6-B281-3E42-C8DB-D1761A7E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5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15FC-7C3F-CF86-F9F1-878D9B335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636B7-022D-10DE-82FF-F91E3455D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E76D7-9B21-7914-EDEF-7239A8459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24A41-05AF-C292-A79E-45309514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19CBD-9B9A-04BA-FEED-FAEBB383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DECC7-BACE-E073-3AEB-405B205E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5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8AB2-ED01-282E-C1AE-269AC0E6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D1D0D-1F74-98CB-34FF-94429E051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FE428-D29C-23D3-7211-81B33E7FA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85EDC-B81D-74BF-BA0B-AB5D1E72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D17F3-2F0D-253C-1370-0B37D567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F2AA1-D853-B125-0B54-33C29431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8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808F-1895-9C08-B5C0-A267B787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F4918-AAFA-CD4F-C82A-5116A1887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233A4-56AA-B452-DD3F-982FBC57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2F770-F295-6F87-13B5-D0C17E72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2938C-C333-7B67-72C4-9E30450A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2CB03F-ABEE-E7A7-0594-E4548C6E9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505D3-0221-ACCA-95B6-B9B0BE68F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AAC03-9C95-9B30-07DC-9CA639D5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1D9DE-E267-24AB-BD82-609C5F13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00322-0DC0-D223-04EC-AAAEA7E0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41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A5206-1021-B3FF-19B9-00B4ACBD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C065F-161D-3B7C-9628-671CC1D7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8642F-916D-60CE-63A9-9629F2635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CF0D2-6ECA-4C3C-BDBE-A882984ACD10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326E0-D95D-8ED2-23B8-695B6E8FA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A7FC0-735D-4CE9-955B-93B62E2A5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2EC5F-2FD2-43EE-B9ED-4726B6A6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3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79660F5-A606-6DF2-6C0C-E6A6C4D8D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5735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Lemon Tea" panose="02000600000000000000" pitchFamily="2" charset="0"/>
              </a:rPr>
              <a:t>Present</a:t>
            </a:r>
            <a:br>
              <a:rPr lang="en-US" dirty="0">
                <a:latin typeface="Lemon Tea" panose="02000600000000000000" pitchFamily="2" charset="0"/>
              </a:rPr>
            </a:br>
            <a:r>
              <a:rPr lang="en-US" dirty="0">
                <a:latin typeface="Lemon Tea" panose="02000600000000000000" pitchFamily="2" charset="0"/>
              </a:rPr>
              <a:t>continuous</a:t>
            </a:r>
            <a:br>
              <a:rPr lang="en-US" dirty="0">
                <a:latin typeface="Lemon Tea" panose="02000600000000000000" pitchFamily="2" charset="0"/>
              </a:rPr>
            </a:br>
            <a:r>
              <a:rPr lang="en-US" dirty="0">
                <a:latin typeface="Lemon Tea" panose="02000600000000000000" pitchFamily="2" charset="0"/>
              </a:rPr>
              <a:t>tense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2D9FC1D-0535-6DE1-1F73-3429E2EB6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44953"/>
            <a:ext cx="9144000" cy="1655762"/>
          </a:xfrm>
        </p:spPr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GRAMMAR PRESENTATION BY MR. STEFANO</a:t>
            </a: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8AAE593F-01BF-E393-232A-EB9206D7BEF6}"/>
              </a:ext>
            </a:extLst>
          </p:cNvPr>
          <p:cNvSpPr/>
          <p:nvPr/>
        </p:nvSpPr>
        <p:spPr>
          <a:xfrm>
            <a:off x="2915361" y="4530915"/>
            <a:ext cx="6361275" cy="341919"/>
          </a:xfrm>
          <a:custGeom>
            <a:avLst/>
            <a:gdLst/>
            <a:ahLst/>
            <a:cxnLst/>
            <a:rect l="l" t="t" r="r" b="b"/>
            <a:pathLst>
              <a:path w="6361275" h="341919">
                <a:moveTo>
                  <a:pt x="0" y="0"/>
                </a:moveTo>
                <a:lnTo>
                  <a:pt x="6361275" y="0"/>
                </a:lnTo>
                <a:lnTo>
                  <a:pt x="6361275" y="341918"/>
                </a:lnTo>
                <a:lnTo>
                  <a:pt x="0" y="341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3CBFE1-9BF3-81F6-B204-85933B2ECCDE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9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8A530-51FC-7195-BCFA-36811AEF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4125F05-9E98-A73F-FC24-EE33B877BBED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F789D6-419D-54E1-FBFC-46F158494090}"/>
              </a:ext>
            </a:extLst>
          </p:cNvPr>
          <p:cNvSpPr txBox="1"/>
          <p:nvPr/>
        </p:nvSpPr>
        <p:spPr>
          <a:xfrm>
            <a:off x="1564481" y="550068"/>
            <a:ext cx="9029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What is present continuous tense?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58748C-EFDC-FA36-2814-AC39DE2522DD}"/>
              </a:ext>
            </a:extLst>
          </p:cNvPr>
          <p:cNvSpPr txBox="1"/>
          <p:nvPr/>
        </p:nvSpPr>
        <p:spPr>
          <a:xfrm>
            <a:off x="3873667" y="2090170"/>
            <a:ext cx="539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We use present continuous tense to describe: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6090D8-21AC-8B67-BFCC-9BF3809A61DC}"/>
              </a:ext>
            </a:extLst>
          </p:cNvPr>
          <p:cNvSpPr txBox="1"/>
          <p:nvPr/>
        </p:nvSpPr>
        <p:spPr>
          <a:xfrm>
            <a:off x="1780814" y="4150451"/>
            <a:ext cx="2427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actions happening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right now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D55D96-1CA1-7AF8-23A8-B81BC32F94A5}"/>
              </a:ext>
            </a:extLst>
          </p:cNvPr>
          <p:cNvSpPr txBox="1"/>
          <p:nvPr/>
        </p:nvSpPr>
        <p:spPr>
          <a:xfrm>
            <a:off x="5248940" y="4164603"/>
            <a:ext cx="1345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actions in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progress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E9C61A-BF33-18D6-1902-AFF97C6A33DB}"/>
              </a:ext>
            </a:extLst>
          </p:cNvPr>
          <p:cNvSpPr txBox="1"/>
          <p:nvPr/>
        </p:nvSpPr>
        <p:spPr>
          <a:xfrm>
            <a:off x="8115886" y="4164603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temporary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279798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4539-6F5D-DF8B-7DF0-56536C3F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5CAD1C-F16A-A544-F271-D2289F77374C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FCEC0-534A-08A7-33E4-549B40606929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Using present continuous tense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F0EC05-A017-FAC8-27BD-1DD3B9E93398}"/>
              </a:ext>
            </a:extLst>
          </p:cNvPr>
          <p:cNvSpPr/>
          <p:nvPr/>
        </p:nvSpPr>
        <p:spPr>
          <a:xfrm>
            <a:off x="946484" y="1636572"/>
            <a:ext cx="617997" cy="617997"/>
          </a:xfrm>
          <a:prstGeom prst="ellipse">
            <a:avLst/>
          </a:prstGeom>
          <a:solidFill>
            <a:srgbClr val="FFFFCC"/>
          </a:solidFill>
          <a:ln w="28575">
            <a:solidFill>
              <a:srgbClr val="FFF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D6F55-E44E-D1AC-2D72-D7EFF4310BD0}"/>
              </a:ext>
            </a:extLst>
          </p:cNvPr>
          <p:cNvSpPr txBox="1"/>
          <p:nvPr/>
        </p:nvSpPr>
        <p:spPr>
          <a:xfrm>
            <a:off x="1763514" y="1714737"/>
            <a:ext cx="4751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Actions happening right now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17F7C-CBC5-8557-D10E-A878AD96E407}"/>
              </a:ext>
            </a:extLst>
          </p:cNvPr>
          <p:cNvSpPr txBox="1"/>
          <p:nvPr/>
        </p:nvSpPr>
        <p:spPr>
          <a:xfrm>
            <a:off x="946484" y="3519636"/>
            <a:ext cx="3001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I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am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eating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my lunch.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7C407-7237-5397-6E50-8CDE550BD6E1}"/>
              </a:ext>
            </a:extLst>
          </p:cNvPr>
          <p:cNvSpPr txBox="1"/>
          <p:nvPr/>
        </p:nvSpPr>
        <p:spPr>
          <a:xfrm>
            <a:off x="7683815" y="3002755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Insert big cartoon</a:t>
            </a:r>
          </a:p>
          <a:p>
            <a:r>
              <a:rPr lang="en-US" dirty="0">
                <a:latin typeface="Consolas" panose="020B0609020204030204" pitchFamily="49" charset="0"/>
              </a:rPr>
              <a:t>Image here</a:t>
            </a:r>
          </a:p>
        </p:txBody>
      </p:sp>
    </p:spTree>
    <p:extLst>
      <p:ext uri="{BB962C8B-B14F-4D97-AF65-F5344CB8AC3E}">
        <p14:creationId xmlns:p14="http://schemas.microsoft.com/office/powerpoint/2010/main" val="399984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8D13-19C3-54B1-B242-D89882AF9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A65BEB-297D-4C1B-82AD-08B468D5C14C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C8D9A-5DAC-0611-62A4-03C1B894ACC5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Using present continuous tense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20CC88-E148-225C-4A53-508A02779CD9}"/>
              </a:ext>
            </a:extLst>
          </p:cNvPr>
          <p:cNvSpPr/>
          <p:nvPr/>
        </p:nvSpPr>
        <p:spPr>
          <a:xfrm>
            <a:off x="946484" y="1636572"/>
            <a:ext cx="617997" cy="617997"/>
          </a:xfrm>
          <a:prstGeom prst="ellipse">
            <a:avLst/>
          </a:prstGeom>
          <a:solidFill>
            <a:srgbClr val="FFFFCC"/>
          </a:solidFill>
          <a:ln w="28575">
            <a:solidFill>
              <a:srgbClr val="FFF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93DCA-1387-FDF6-4414-DA9DA28EEC31}"/>
              </a:ext>
            </a:extLst>
          </p:cNvPr>
          <p:cNvSpPr txBox="1"/>
          <p:nvPr/>
        </p:nvSpPr>
        <p:spPr>
          <a:xfrm>
            <a:off x="1763514" y="1714737"/>
            <a:ext cx="3225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Actions in progress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D1B7E-965C-663C-169D-E1F1EB8FA203}"/>
              </a:ext>
            </a:extLst>
          </p:cNvPr>
          <p:cNvSpPr txBox="1"/>
          <p:nvPr/>
        </p:nvSpPr>
        <p:spPr>
          <a:xfrm>
            <a:off x="946484" y="3519636"/>
            <a:ext cx="3530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I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am doing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my homework.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87596-076E-ACA6-BAFA-18662DFFCC01}"/>
              </a:ext>
            </a:extLst>
          </p:cNvPr>
          <p:cNvSpPr txBox="1"/>
          <p:nvPr/>
        </p:nvSpPr>
        <p:spPr>
          <a:xfrm>
            <a:off x="7683815" y="3002755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Insert big cartoon</a:t>
            </a:r>
          </a:p>
          <a:p>
            <a:r>
              <a:rPr lang="en-US" dirty="0">
                <a:latin typeface="Consolas" panose="020B0609020204030204" pitchFamily="49" charset="0"/>
              </a:rPr>
              <a:t>Image here</a:t>
            </a:r>
          </a:p>
        </p:txBody>
      </p:sp>
    </p:spTree>
    <p:extLst>
      <p:ext uri="{BB962C8B-B14F-4D97-AF65-F5344CB8AC3E}">
        <p14:creationId xmlns:p14="http://schemas.microsoft.com/office/powerpoint/2010/main" val="200674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2153-CC7D-23F9-A314-8F6B147C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EE19B2-AC75-AF3F-A808-022C54676332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D979A-D6AA-940C-C21D-81B496CA3961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Using present continuous tense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5580D2-FE68-016E-7F1A-CBE5BA8EFE20}"/>
              </a:ext>
            </a:extLst>
          </p:cNvPr>
          <p:cNvSpPr/>
          <p:nvPr/>
        </p:nvSpPr>
        <p:spPr>
          <a:xfrm>
            <a:off x="946484" y="1636572"/>
            <a:ext cx="617997" cy="617997"/>
          </a:xfrm>
          <a:prstGeom prst="ellipse">
            <a:avLst/>
          </a:prstGeom>
          <a:solidFill>
            <a:srgbClr val="FFFFCC"/>
          </a:solidFill>
          <a:ln w="28575">
            <a:solidFill>
              <a:srgbClr val="FFF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CFB31-EAF7-C24D-9F97-C2705AADE08C}"/>
              </a:ext>
            </a:extLst>
          </p:cNvPr>
          <p:cNvSpPr txBox="1"/>
          <p:nvPr/>
        </p:nvSpPr>
        <p:spPr>
          <a:xfrm>
            <a:off x="1763514" y="1714737"/>
            <a:ext cx="3199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Temporary 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7A9BF-FF4D-DB49-03F4-6919E943A18E}"/>
              </a:ext>
            </a:extLst>
          </p:cNvPr>
          <p:cNvSpPr txBox="1"/>
          <p:nvPr/>
        </p:nvSpPr>
        <p:spPr>
          <a:xfrm>
            <a:off x="946484" y="3519636"/>
            <a:ext cx="4182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He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is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visiting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his grandparents.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7FD53-6694-0E55-A45F-F097C717F581}"/>
              </a:ext>
            </a:extLst>
          </p:cNvPr>
          <p:cNvSpPr txBox="1"/>
          <p:nvPr/>
        </p:nvSpPr>
        <p:spPr>
          <a:xfrm>
            <a:off x="7683815" y="3002755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Insert big cartoon</a:t>
            </a:r>
          </a:p>
          <a:p>
            <a:r>
              <a:rPr lang="en-US" dirty="0">
                <a:latin typeface="Consolas" panose="020B0609020204030204" pitchFamily="49" charset="0"/>
              </a:rPr>
              <a:t>Image here</a:t>
            </a:r>
          </a:p>
        </p:txBody>
      </p:sp>
    </p:spTree>
    <p:extLst>
      <p:ext uri="{BB962C8B-B14F-4D97-AF65-F5344CB8AC3E}">
        <p14:creationId xmlns:p14="http://schemas.microsoft.com/office/powerpoint/2010/main" val="261609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1687-66BB-F71A-770F-252D759F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395C3-50D1-FFA1-0FE2-66074910284F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B2987-1487-D61D-6511-869EB5396D18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(positive)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EDB9CE-EEB2-660F-C7FC-361A9956B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213592"/>
              </p:ext>
            </p:extLst>
          </p:nvPr>
        </p:nvGraphicFramePr>
        <p:xfrm>
          <a:off x="2015330" y="2936240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8496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1668496">
                  <a:extLst>
                    <a:ext uri="{9D8B030D-6E8A-4147-A177-3AD203B41FA5}">
                      <a16:colId xmlns:a16="http://schemas.microsoft.com/office/drawing/2014/main" val="2510840280"/>
                    </a:ext>
                  </a:extLst>
                </a:gridCol>
                <a:gridCol w="2637840">
                  <a:extLst>
                    <a:ext uri="{9D8B030D-6E8A-4147-A177-3AD203B41FA5}">
                      <a16:colId xmlns:a16="http://schemas.microsoft.com/office/drawing/2014/main" val="3002836332"/>
                    </a:ext>
                  </a:extLst>
                </a:gridCol>
                <a:gridCol w="2153168">
                  <a:extLst>
                    <a:ext uri="{9D8B030D-6E8A-4147-A177-3AD203B41FA5}">
                      <a16:colId xmlns:a16="http://schemas.microsoft.com/office/drawing/2014/main" val="745334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football.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1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2098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CFFB27-7578-E460-DAF3-AED2E90E8239}"/>
              </a:ext>
            </a:extLst>
          </p:cNvPr>
          <p:cNvCxnSpPr/>
          <p:nvPr/>
        </p:nvCxnSpPr>
        <p:spPr>
          <a:xfrm flipV="1">
            <a:off x="6600825" y="4543425"/>
            <a:ext cx="0" cy="514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86F021-9E6B-797B-A632-1B0396BF4BD1}"/>
              </a:ext>
            </a:extLst>
          </p:cNvPr>
          <p:cNvSpPr txBox="1"/>
          <p:nvPr/>
        </p:nvSpPr>
        <p:spPr>
          <a:xfrm>
            <a:off x="5822407" y="5451555"/>
            <a:ext cx="1556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V-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(play +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706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5477-3040-D99D-955B-1C342A058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E50E4A-A606-D11D-B175-53743577343C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8FDEF-9029-0DF5-60AA-CF1F1B85430B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(negative)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ACB491-E570-1879-B09C-8FA2DD140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51985"/>
              </p:ext>
            </p:extLst>
          </p:nvPr>
        </p:nvGraphicFramePr>
        <p:xfrm>
          <a:off x="2015330" y="2936240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84325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1384325">
                  <a:extLst>
                    <a:ext uri="{9D8B030D-6E8A-4147-A177-3AD203B41FA5}">
                      <a16:colId xmlns:a16="http://schemas.microsoft.com/office/drawing/2014/main" val="2510840280"/>
                    </a:ext>
                  </a:extLst>
                </a:gridCol>
                <a:gridCol w="1384325">
                  <a:extLst>
                    <a:ext uri="{9D8B030D-6E8A-4147-A177-3AD203B41FA5}">
                      <a16:colId xmlns:a16="http://schemas.microsoft.com/office/drawing/2014/main" val="21309272"/>
                    </a:ext>
                  </a:extLst>
                </a:gridCol>
                <a:gridCol w="2188575">
                  <a:extLst>
                    <a:ext uri="{9D8B030D-6E8A-4147-A177-3AD203B41FA5}">
                      <a16:colId xmlns:a16="http://schemas.microsoft.com/office/drawing/2014/main" val="3002836332"/>
                    </a:ext>
                  </a:extLst>
                </a:gridCol>
                <a:gridCol w="1786450">
                  <a:extLst>
                    <a:ext uri="{9D8B030D-6E8A-4147-A177-3AD203B41FA5}">
                      <a16:colId xmlns:a16="http://schemas.microsoft.com/office/drawing/2014/main" val="745334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football.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1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20985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BEADBF-16A1-23A6-94D4-4D945B58583E}"/>
              </a:ext>
            </a:extLst>
          </p:cNvPr>
          <p:cNvCxnSpPr/>
          <p:nvPr/>
        </p:nvCxnSpPr>
        <p:spPr>
          <a:xfrm flipV="1">
            <a:off x="7243763" y="4543425"/>
            <a:ext cx="0" cy="514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B4693E1-DCBA-8562-D416-92B51912AD60}"/>
              </a:ext>
            </a:extLst>
          </p:cNvPr>
          <p:cNvSpPr txBox="1"/>
          <p:nvPr/>
        </p:nvSpPr>
        <p:spPr>
          <a:xfrm>
            <a:off x="6465345" y="5451555"/>
            <a:ext cx="1556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V-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(play +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5447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F1FF-E029-30EA-6D73-9E6F2796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6C426F-1345-E54D-5DF6-3679AD0676B3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1A207-E1F8-4E02-71FA-C9989A8BE2BE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(question)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3E61E9-C20C-9C1E-1884-017DBA043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964643"/>
              </p:ext>
            </p:extLst>
          </p:nvPr>
        </p:nvGraphicFramePr>
        <p:xfrm>
          <a:off x="2031998" y="2314575"/>
          <a:ext cx="8128004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1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4159121361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245281378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30578420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playing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football?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716352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1FFAAA9-5353-B7CA-B893-1769CC8BD787}"/>
              </a:ext>
            </a:extLst>
          </p:cNvPr>
          <p:cNvCxnSpPr/>
          <p:nvPr/>
        </p:nvCxnSpPr>
        <p:spPr>
          <a:xfrm flipV="1">
            <a:off x="7243763" y="4543425"/>
            <a:ext cx="0" cy="514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9A3BB1E-F4C1-83D4-2CD7-49DDE1185554}"/>
              </a:ext>
            </a:extLst>
          </p:cNvPr>
          <p:cNvSpPr txBox="1"/>
          <p:nvPr/>
        </p:nvSpPr>
        <p:spPr>
          <a:xfrm>
            <a:off x="6465345" y="5451555"/>
            <a:ext cx="1556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V-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(play +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D0ED2C-C511-3B77-0FC5-4A160A6F7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112290"/>
              </p:ext>
            </p:extLst>
          </p:nvPr>
        </p:nvGraphicFramePr>
        <p:xfrm>
          <a:off x="2031998" y="3407965"/>
          <a:ext cx="8128004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1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4159121361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245281378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30578420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playing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football?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716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630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179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Lemon Tea</vt:lpstr>
      <vt:lpstr>Poppins</vt:lpstr>
      <vt:lpstr>Office Theme</vt:lpstr>
      <vt:lpstr>Present continuous tense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ntrk ⠀</dc:creator>
  <cp:lastModifiedBy>ntrk ⠀</cp:lastModifiedBy>
  <cp:revision>1</cp:revision>
  <dcterms:created xsi:type="dcterms:W3CDTF">2025-05-25T10:01:21Z</dcterms:created>
  <dcterms:modified xsi:type="dcterms:W3CDTF">2025-05-25T10:13:09Z</dcterms:modified>
</cp:coreProperties>
</file>